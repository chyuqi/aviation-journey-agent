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00" y="3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754880" y="0"/>
            <a:ext cx="18288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777240"/>
            <a:ext cx="1417320" cy="310896"/>
          </a:xfrm>
          <a:prstGeom prst="roundRect">
            <a:avLst/>
          </a:prstGeom>
          <a:solidFill>
            <a:srgbClr val="1F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417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93C5FD"/>
                </a:solidFill>
              </a:rPr>
              <a:t>软件工程课程设计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698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基于智能Agent的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9575"/>
            <a:ext cx="10698480" cy="5386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 dirty="0" err="1">
                <a:solidFill>
                  <a:srgbClr val="BFDBFE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民航旅客</a:t>
            </a:r>
            <a:r>
              <a:rPr lang="zh-CN" altLang="en-US" sz="2900" b="1" dirty="0">
                <a:solidFill>
                  <a:srgbClr val="BFDBFE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Gen Jyuu Gothic P Regular" panose="020B0302020203020207" pitchFamily="34" charset="-128"/>
              </a:rPr>
              <a:t>起飞前行程</a:t>
            </a:r>
            <a:r>
              <a:rPr sz="2900" b="1" dirty="0" err="1">
                <a:solidFill>
                  <a:srgbClr val="BFDBFE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规划与延误风险预警系统</a:t>
            </a:r>
            <a:endParaRPr sz="2900" b="1" dirty="0">
              <a:solidFill>
                <a:srgbClr val="BFDBFE"/>
              </a:solidFill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3191143"/>
            <a:ext cx="98755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dirty="0" err="1">
                <a:solidFill>
                  <a:srgbClr val="FFFFFF"/>
                </a:solidFill>
              </a:rPr>
              <a:t>持续理解旅客状态，并给出下一步可执行行动</a:t>
            </a:r>
            <a:r>
              <a:rPr sz="1600" b="0" dirty="0">
                <a:solidFill>
                  <a:srgbClr val="FFFFFF"/>
                </a:solidFill>
              </a:rPr>
              <a:t>。</a:t>
            </a:r>
          </a:p>
        </p:txBody>
      </p:sp>
      <p:sp>
        <p:nvSpPr>
          <p:cNvPr id="10" name="Oval 9"/>
          <p:cNvSpPr/>
          <p:nvPr/>
        </p:nvSpPr>
        <p:spPr>
          <a:xfrm>
            <a:off x="6537960" y="4343400"/>
            <a:ext cx="594360" cy="5943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434340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航班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4032" y="4471416"/>
            <a:ext cx="384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3C5FD"/>
                </a:solidFill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0" y="4343400"/>
            <a:ext cx="594360" cy="5943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0" y="434340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机场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4152" y="4471416"/>
            <a:ext cx="384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3C5FD"/>
                </a:solidFill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8458200" y="4343400"/>
            <a:ext cx="594360" cy="5943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200" y="434340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旅客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34272" y="4471416"/>
            <a:ext cx="384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3C5FD"/>
                </a:solidFill>
              </a:rP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9418320" y="4343400"/>
            <a:ext cx="594360" cy="5943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18320" y="434340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94392" y="4471416"/>
            <a:ext cx="384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3C5FD"/>
                </a:solidFill>
              </a:rPr>
              <a:t>→</a:t>
            </a:r>
          </a:p>
        </p:txBody>
      </p:sp>
      <p:sp>
        <p:nvSpPr>
          <p:cNvPr id="22" name="Oval 21"/>
          <p:cNvSpPr/>
          <p:nvPr/>
        </p:nvSpPr>
        <p:spPr>
          <a:xfrm>
            <a:off x="10378440" y="4343400"/>
            <a:ext cx="594360" cy="5943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378440" y="434340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行动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911929"/>
            <a:ext cx="73152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dirty="0" err="1">
                <a:solidFill>
                  <a:srgbClr val="94A3B8"/>
                </a:solidFill>
              </a:rPr>
              <a:t>组长：陈源齐</a:t>
            </a:r>
            <a:r>
              <a:rPr sz="1000" b="0" dirty="0">
                <a:solidFill>
                  <a:srgbClr val="94A3B8"/>
                </a:solidFill>
              </a:rPr>
              <a:t>   </a:t>
            </a:r>
            <a:r>
              <a:rPr sz="1000" b="0" dirty="0" err="1">
                <a:solidFill>
                  <a:srgbClr val="94A3B8"/>
                </a:solidFill>
              </a:rPr>
              <a:t>成员：陈志恒、曹力文、李昊洋、吴启训</a:t>
            </a:r>
            <a:endParaRPr sz="1000" b="0" dirty="0">
              <a:solidFill>
                <a:srgbClr val="94A3B8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9808" y="6236208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 dirty="0">
                <a:solidFill>
                  <a:srgbClr val="64748B"/>
                </a:solidFill>
              </a:rPr>
              <a:t>2026年</a:t>
            </a:r>
            <a:r>
              <a:rPr lang="en-US" sz="900" b="0" dirty="0">
                <a:solidFill>
                  <a:srgbClr val="64748B"/>
                </a:solidFill>
              </a:rPr>
              <a:t>9</a:t>
            </a:r>
            <a:r>
              <a:rPr sz="900" b="0" dirty="0">
                <a:solidFill>
                  <a:srgbClr val="64748B"/>
                </a:solidFill>
              </a:rPr>
              <a:t>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F203A"/>
                </a:solidFill>
              </a:rPr>
              <a:t>项目背景：旅客真正缺少的不是信息，而是行动判断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38328"/>
            <a:ext cx="868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32688"/>
            <a:ext cx="109728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5257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64008" cy="4434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99032"/>
            <a:ext cx="48463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203A"/>
                </a:solidFill>
              </a:rPr>
              <a:t>一次航空出行涉及多个环节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4846320" cy="36850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 dirty="0" err="1">
                <a:solidFill>
                  <a:srgbClr val="1F2937"/>
                </a:solidFill>
              </a:rPr>
              <a:t>航班计划</a:t>
            </a:r>
            <a:r>
              <a:rPr sz="1080" b="0" dirty="0">
                <a:solidFill>
                  <a:srgbClr val="1F2937"/>
                </a:solidFill>
              </a:rPr>
              <a:t> → </a:t>
            </a:r>
            <a:r>
              <a:rPr sz="1080" b="0" dirty="0" err="1">
                <a:solidFill>
                  <a:srgbClr val="1F2937"/>
                </a:solidFill>
              </a:rPr>
              <a:t>城市交通</a:t>
            </a:r>
            <a:r>
              <a:rPr sz="1080" b="0" dirty="0">
                <a:solidFill>
                  <a:srgbClr val="1F2937"/>
                </a:solidFill>
              </a:rPr>
              <a:t> → </a:t>
            </a:r>
            <a:r>
              <a:rPr sz="1080" b="0" dirty="0" err="1">
                <a:solidFill>
                  <a:srgbClr val="1F2937"/>
                </a:solidFill>
              </a:rPr>
              <a:t>到达机场</a:t>
            </a:r>
            <a:r>
              <a:rPr sz="1080" b="0" dirty="0">
                <a:solidFill>
                  <a:srgbClr val="1F2937"/>
                </a:solidFill>
              </a:rPr>
              <a:t> → </a:t>
            </a:r>
            <a:r>
              <a:rPr sz="1080" b="0" dirty="0" err="1">
                <a:solidFill>
                  <a:srgbClr val="1F2937"/>
                </a:solidFill>
              </a:rPr>
              <a:t>值机</a:t>
            </a:r>
            <a:r>
              <a:rPr sz="1080" b="0" dirty="0">
                <a:solidFill>
                  <a:srgbClr val="1F2937"/>
                </a:solidFill>
              </a:rPr>
              <a:t> → </a:t>
            </a:r>
            <a:r>
              <a:rPr sz="1080" b="0" dirty="0" err="1">
                <a:solidFill>
                  <a:srgbClr val="1F2937"/>
                </a:solidFill>
              </a:rPr>
              <a:t>安检</a:t>
            </a:r>
            <a:r>
              <a:rPr sz="1080" b="0" dirty="0">
                <a:solidFill>
                  <a:srgbClr val="1F2937"/>
                </a:solidFill>
              </a:rPr>
              <a:t> → </a:t>
            </a:r>
            <a:r>
              <a:rPr sz="1080" b="0" dirty="0" err="1">
                <a:solidFill>
                  <a:srgbClr val="1F2937"/>
                </a:solidFill>
              </a:rPr>
              <a:t>候机</a:t>
            </a:r>
            <a:r>
              <a:rPr sz="1080" b="0" dirty="0">
                <a:solidFill>
                  <a:srgbClr val="1F2937"/>
                </a:solidFill>
              </a:rPr>
              <a:t> → </a:t>
            </a:r>
            <a:r>
              <a:rPr sz="1080" b="0" dirty="0" err="1">
                <a:solidFill>
                  <a:srgbClr val="1F2937"/>
                </a:solidFill>
              </a:rPr>
              <a:t>登机</a:t>
            </a:r>
            <a:r>
              <a:rPr sz="1080" b="0" dirty="0">
                <a:solidFill>
                  <a:srgbClr val="1F2937"/>
                </a:solidFill>
              </a:rPr>
              <a:t> → </a:t>
            </a:r>
            <a:r>
              <a:rPr sz="1080" b="0" dirty="0" err="1">
                <a:solidFill>
                  <a:srgbClr val="1F2937"/>
                </a:solidFill>
              </a:rPr>
              <a:t>中转</a:t>
            </a:r>
            <a:r>
              <a:rPr sz="1080" b="0" dirty="0">
                <a:solidFill>
                  <a:srgbClr val="1F2937"/>
                </a:solidFill>
              </a:rPr>
              <a:t> → </a:t>
            </a:r>
            <a:r>
              <a:rPr sz="1080" b="0" dirty="0" err="1">
                <a:solidFill>
                  <a:srgbClr val="1F2937"/>
                </a:solidFill>
              </a:rPr>
              <a:t>到达</a:t>
            </a:r>
            <a:r>
              <a:rPr sz="1080" b="0" dirty="0">
                <a:solidFill>
                  <a:srgbClr val="1F2937"/>
                </a:solidFill>
              </a:rPr>
              <a:t>
</a:t>
            </a:r>
            <a:r>
              <a:rPr sz="1080" b="0" dirty="0" err="1">
                <a:solidFill>
                  <a:srgbClr val="1F2937"/>
                </a:solidFill>
              </a:rPr>
              <a:t>任一状态变化都可能影响后续行动</a:t>
            </a:r>
            <a:r>
              <a:rPr sz="1080" b="0" dirty="0">
                <a:solidFill>
                  <a:srgbClr val="1F2937"/>
                </a:solidFill>
              </a:rPr>
              <a:t>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257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234440"/>
            <a:ext cx="64008" cy="4434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399032"/>
            <a:ext cx="48463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203A"/>
                </a:solidFill>
              </a:rPr>
              <a:t>现有系统“各管一段”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56232"/>
            <a:ext cx="4846320" cy="36850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 dirty="0" err="1">
                <a:solidFill>
                  <a:srgbClr val="1F2937"/>
                </a:solidFill>
              </a:rPr>
              <a:t>航司：航班</a:t>
            </a:r>
            <a:r>
              <a:rPr sz="1080" b="0" dirty="0">
                <a:solidFill>
                  <a:srgbClr val="1F2937"/>
                </a:solidFill>
              </a:rPr>
              <a:t>/</a:t>
            </a:r>
            <a:r>
              <a:rPr sz="1080" b="0" dirty="0" err="1">
                <a:solidFill>
                  <a:srgbClr val="1F2937"/>
                </a:solidFill>
              </a:rPr>
              <a:t>值机</a:t>
            </a:r>
            <a:r>
              <a:rPr sz="1080" b="0" dirty="0">
                <a:solidFill>
                  <a:srgbClr val="1F2937"/>
                </a:solidFill>
              </a:rPr>
              <a:t>/</a:t>
            </a:r>
            <a:r>
              <a:rPr sz="1080" b="0" dirty="0" err="1">
                <a:solidFill>
                  <a:srgbClr val="1F2937"/>
                </a:solidFill>
              </a:rPr>
              <a:t>登机；机场：航站楼</a:t>
            </a:r>
            <a:r>
              <a:rPr sz="1080" b="0" dirty="0">
                <a:solidFill>
                  <a:srgbClr val="1F2937"/>
                </a:solidFill>
              </a:rPr>
              <a:t>/</a:t>
            </a:r>
            <a:r>
              <a:rPr sz="1080" b="0" dirty="0" err="1">
                <a:solidFill>
                  <a:srgbClr val="1F2937"/>
                </a:solidFill>
              </a:rPr>
              <a:t>柜台</a:t>
            </a:r>
            <a:r>
              <a:rPr sz="1080" b="0" dirty="0">
                <a:solidFill>
                  <a:srgbClr val="1F2937"/>
                </a:solidFill>
              </a:rPr>
              <a:t>/</a:t>
            </a:r>
            <a:r>
              <a:rPr sz="1080" b="0" dirty="0" err="1">
                <a:solidFill>
                  <a:srgbClr val="1F2937"/>
                </a:solidFill>
              </a:rPr>
              <a:t>登机口；地图：城市交通；客服：规则问答</a:t>
            </a:r>
            <a:r>
              <a:rPr sz="1080" b="0" dirty="0">
                <a:solidFill>
                  <a:srgbClr val="1F2937"/>
                </a:solidFill>
              </a:rPr>
              <a:t>。
</a:t>
            </a:r>
            <a:r>
              <a:rPr sz="1080" b="0" dirty="0" err="1">
                <a:solidFill>
                  <a:srgbClr val="1F2937"/>
                </a:solidFill>
              </a:rPr>
              <a:t>旅客仍需自己把信息拼起来，判断“现在应该怎么办</a:t>
            </a:r>
            <a:r>
              <a:rPr sz="1080" b="0" dirty="0">
                <a:solidFill>
                  <a:srgbClr val="1F2937"/>
                </a:solidFill>
              </a:rPr>
              <a:t>”。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</a:rPr>
              <a:t>航旅智行 · 软件工程课程设计 |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F203A"/>
                </a:solidFill>
              </a:rPr>
              <a:t>欲解决问题：把“状态通知”变成“下一行动”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38328"/>
            <a:ext cx="868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32688"/>
            <a:ext cx="109728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40156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64008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99032"/>
            <a:ext cx="299008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203A"/>
                </a:solidFill>
              </a:rPr>
              <a:t>全旅程难管理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2990088" cy="9875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</a:rPr>
              <a:t>多个航班、机场、时间节点需要手动汇总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234440"/>
            <a:ext cx="340156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234440"/>
            <a:ext cx="64008" cy="1737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2" y="1399032"/>
            <a:ext cx="299008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203A"/>
                </a:solidFill>
              </a:rPr>
              <a:t>变化后难判断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1856232"/>
            <a:ext cx="2990088" cy="9875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</a:rPr>
              <a:t>延误、登机口、拥堵变化后，不知道原路线是否仍可行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234440"/>
            <a:ext cx="340156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01583" y="1234440"/>
            <a:ext cx="64008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0183" y="1399032"/>
            <a:ext cx="299008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203A"/>
                </a:solidFill>
              </a:rPr>
              <a:t>个体风险不同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1856232"/>
            <a:ext cx="2990088" cy="9875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</a:rPr>
              <a:t>位置、行李、交通方式、同行人员会改变实际缓冲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383280"/>
            <a:ext cx="340156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383280"/>
            <a:ext cx="64008" cy="1737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547872"/>
            <a:ext cx="299008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203A"/>
                </a:solidFill>
              </a:rPr>
              <a:t>提醒不等于行动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005072"/>
            <a:ext cx="2990088" cy="9875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</a:rPr>
              <a:t>知道“延误45分钟”，却不知道现在该出发还是改道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2" y="3383280"/>
            <a:ext cx="340156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70832" y="3383280"/>
            <a:ext cx="64008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99432" y="3547872"/>
            <a:ext cx="299008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203A"/>
                </a:solidFill>
              </a:rPr>
              <a:t>异常缺少连续处置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4005072"/>
            <a:ext cx="2990088" cy="9875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</a:rPr>
              <a:t>中转、取消、远距离登机口变化需要多步处理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1583" y="3383280"/>
            <a:ext cx="340156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01583" y="3383280"/>
            <a:ext cx="64008" cy="1737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30183" y="3547872"/>
            <a:ext cx="299008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203A"/>
                </a:solidFill>
              </a:rPr>
              <a:t>建议可信度不透明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3" y="4005072"/>
            <a:ext cx="2990088" cy="9875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</a:rPr>
              <a:t>数据延迟、定位失效时，需要说明依据和限制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</a:rPr>
              <a:t>航旅智行 · 软件工程课程设计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F203A"/>
                </a:solidFill>
              </a:rPr>
              <a:t>软件创意：旅客旅程伴随式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38328"/>
            <a:ext cx="868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32688"/>
            <a:ext cx="109728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188720"/>
            <a:ext cx="10835640" cy="960120"/>
          </a:xfrm>
          <a:prstGeom prst="roundRect">
            <a:avLst/>
          </a:prstGeom>
          <a:solidFill>
            <a:srgbClr val="0F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307592"/>
            <a:ext cx="10469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 dirty="0" err="1">
                <a:solidFill>
                  <a:srgbClr val="FFFFFF"/>
                </a:solidFill>
              </a:rPr>
              <a:t>核心输出不是聊天文本，而是“状态</a:t>
            </a:r>
            <a:r>
              <a:rPr sz="2100" b="1" dirty="0">
                <a:solidFill>
                  <a:srgbClr val="FFFFFF"/>
                </a:solidFill>
              </a:rPr>
              <a:t> + </a:t>
            </a:r>
            <a:r>
              <a:rPr sz="2100" b="1" dirty="0" err="1">
                <a:solidFill>
                  <a:srgbClr val="FFFFFF"/>
                </a:solidFill>
              </a:rPr>
              <a:t>时间轴</a:t>
            </a:r>
            <a:r>
              <a:rPr sz="2100" b="1" dirty="0">
                <a:solidFill>
                  <a:srgbClr val="FFFFFF"/>
                </a:solidFill>
              </a:rPr>
              <a:t> + </a:t>
            </a:r>
            <a:r>
              <a:rPr sz="2100" b="1" dirty="0" err="1">
                <a:solidFill>
                  <a:srgbClr val="FFFFFF"/>
                </a:solidFill>
              </a:rPr>
              <a:t>地图</a:t>
            </a:r>
            <a:r>
              <a:rPr sz="2100" b="1" dirty="0">
                <a:solidFill>
                  <a:srgbClr val="FFFFFF"/>
                </a:solidFill>
              </a:rPr>
              <a:t> + </a:t>
            </a:r>
            <a:r>
              <a:rPr sz="2100" b="1" dirty="0" err="1">
                <a:solidFill>
                  <a:srgbClr val="FFFFFF"/>
                </a:solidFill>
              </a:rPr>
              <a:t>倒计时</a:t>
            </a:r>
            <a:r>
              <a:rPr sz="2100" b="1" dirty="0">
                <a:solidFill>
                  <a:srgbClr val="FFFFFF"/>
                </a:solidFill>
              </a:rPr>
              <a:t> + </a:t>
            </a:r>
            <a:r>
              <a:rPr sz="2100" b="1" dirty="0" err="1">
                <a:solidFill>
                  <a:srgbClr val="FFFFFF"/>
                </a:solidFill>
              </a:rPr>
              <a:t>行动卡片</a:t>
            </a:r>
            <a:r>
              <a:rPr sz="2100" b="1" dirty="0">
                <a:solidFill>
                  <a:srgbClr val="FFFFFF"/>
                </a:solidFill>
              </a:rPr>
              <a:t>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3401568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514600"/>
            <a:ext cx="64008" cy="12984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679192"/>
            <a:ext cx="299008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203A"/>
                </a:solidFill>
              </a:rPr>
              <a:t>① 多航班旅程建模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36392"/>
            <a:ext cx="299008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</a:rPr>
              <a:t>自动建立航段顺序、中转关系、关键时间节点；变化后重新评估。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2514600"/>
            <a:ext cx="3401568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0832" y="2514600"/>
            <a:ext cx="64008" cy="12984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9432" y="2679192"/>
            <a:ext cx="299008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203A"/>
                </a:solidFill>
              </a:rPr>
              <a:t>② 三态融合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3136392"/>
            <a:ext cx="299008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</a:rPr>
              <a:t>同时感知航班状态、机场状态、旅客状态。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2514600"/>
            <a:ext cx="3401568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01583" y="2514600"/>
            <a:ext cx="64008" cy="12984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0183" y="2679192"/>
            <a:ext cx="299008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203A"/>
                </a:solidFill>
              </a:rPr>
              <a:t>③ 动态重规划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3" y="3136392"/>
            <a:ext cx="299008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</a:rPr>
              <a:t>根据剩余时间、位置、机场状态生成下一行动。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6908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4069080"/>
            <a:ext cx="64008" cy="12984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233672"/>
            <a:ext cx="48463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203A"/>
                </a:solidFill>
              </a:rPr>
              <a:t>④ GUI优先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690872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</a:rPr>
              <a:t>地图、时间轴、倒计时、行动卡片优先，文字辅助解释。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06908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63640" y="4069080"/>
            <a:ext cx="64008" cy="12984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4233672"/>
            <a:ext cx="48463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203A"/>
                </a:solidFill>
              </a:rPr>
              <a:t>⑤ 可解释可回退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690872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</a:rPr>
              <a:t>展示数据更新时间、触发原因、风险等级；异常时降级。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</a:rPr>
              <a:t>航旅智行 · 软件工程课程设计 |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 dirty="0" err="1">
                <a:solidFill>
                  <a:srgbClr val="0F203A"/>
                </a:solidFill>
              </a:rPr>
              <a:t>系统组成：C</a:t>
            </a:r>
            <a:r>
              <a:rPr sz="2500" b="1" dirty="0">
                <a:solidFill>
                  <a:srgbClr val="0F203A"/>
                </a:solidFill>
              </a:rPr>
              <a:t>/S + </a:t>
            </a:r>
            <a:r>
              <a:rPr sz="2500" b="1" dirty="0" err="1">
                <a:solidFill>
                  <a:srgbClr val="0F203A"/>
                </a:solidFill>
              </a:rPr>
              <a:t>云端</a:t>
            </a:r>
            <a:r>
              <a:rPr sz="2500" b="1" dirty="0">
                <a:solidFill>
                  <a:srgbClr val="0F203A"/>
                </a:solidFill>
              </a:rPr>
              <a:t> Agent + </a:t>
            </a:r>
            <a:r>
              <a:rPr sz="2500" b="1" dirty="0" err="1">
                <a:solidFill>
                  <a:srgbClr val="0F203A"/>
                </a:solidFill>
              </a:rPr>
              <a:t>多源数据</a:t>
            </a:r>
            <a:endParaRPr sz="2500" b="1" dirty="0">
              <a:solidFill>
                <a:srgbClr val="0F203A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98480" y="338328"/>
            <a:ext cx="868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32688"/>
            <a:ext cx="109728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28016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280160"/>
            <a:ext cx="64008" cy="4389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444751"/>
            <a:ext cx="2971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203A"/>
                </a:solidFill>
              </a:rPr>
              <a:t>旅客客户端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01952"/>
            <a:ext cx="2971800" cy="3639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</a:rPr>
              <a:t>航班输入
定位授权与位置获取
地图 / 时间轴 / 倒计时
行动卡片与风险展示
客户端不负责分析和方案生成。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280160"/>
            <a:ext cx="64008" cy="4389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444751"/>
            <a:ext cx="2971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203A"/>
                </a:solidFill>
              </a:rPr>
              <a:t>云端 Agent 服务端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01952"/>
            <a:ext cx="2971800" cy="3639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 dirty="0" err="1">
                <a:solidFill>
                  <a:srgbClr val="1F2937"/>
                </a:solidFill>
              </a:rPr>
              <a:t>接收航班、位置、时间</a:t>
            </a:r>
            <a:r>
              <a:rPr sz="1080" b="0" dirty="0">
                <a:solidFill>
                  <a:srgbClr val="1F2937"/>
                </a:solidFill>
              </a:rPr>
              <a:t>
↓
</a:t>
            </a:r>
            <a:r>
              <a:rPr sz="1080" b="0" dirty="0" err="1">
                <a:solidFill>
                  <a:srgbClr val="1F2937"/>
                </a:solidFill>
              </a:rPr>
              <a:t>获取航班与机场数据</a:t>
            </a:r>
            <a:r>
              <a:rPr sz="1080" b="0" dirty="0">
                <a:solidFill>
                  <a:srgbClr val="1F2937"/>
                </a:solidFill>
              </a:rPr>
              <a:t>
↓
</a:t>
            </a:r>
            <a:r>
              <a:rPr sz="1080" b="0" dirty="0" err="1">
                <a:solidFill>
                  <a:srgbClr val="1F2937"/>
                </a:solidFill>
              </a:rPr>
              <a:t>状态融合</a:t>
            </a:r>
            <a:r>
              <a:rPr sz="1080" b="0" dirty="0">
                <a:solidFill>
                  <a:srgbClr val="1F2937"/>
                </a:solidFill>
              </a:rPr>
              <a:t>
↓
</a:t>
            </a:r>
            <a:r>
              <a:rPr sz="1080" b="0" dirty="0" err="1">
                <a:solidFill>
                  <a:srgbClr val="1F2937"/>
                </a:solidFill>
              </a:rPr>
              <a:t>阶段判断</a:t>
            </a:r>
            <a:r>
              <a:rPr sz="1080" b="0" dirty="0">
                <a:solidFill>
                  <a:srgbClr val="1F2937"/>
                </a:solidFill>
              </a:rPr>
              <a:t> + </a:t>
            </a:r>
            <a:r>
              <a:rPr sz="1080" b="0" dirty="0" err="1">
                <a:solidFill>
                  <a:srgbClr val="1F2937"/>
                </a:solidFill>
              </a:rPr>
              <a:t>风险分析</a:t>
            </a:r>
            <a:r>
              <a:rPr sz="1080" b="0" dirty="0">
                <a:solidFill>
                  <a:srgbClr val="1F2937"/>
                </a:solidFill>
              </a:rPr>
              <a:t>
↓
</a:t>
            </a:r>
            <a:r>
              <a:rPr sz="1080" b="0" dirty="0" err="1">
                <a:solidFill>
                  <a:srgbClr val="1F2937"/>
                </a:solidFill>
              </a:rPr>
              <a:t>动态重规划</a:t>
            </a:r>
            <a:r>
              <a:rPr sz="1080" b="0" dirty="0">
                <a:solidFill>
                  <a:srgbClr val="1F2937"/>
                </a:solidFill>
              </a:rPr>
              <a:t>
↓
</a:t>
            </a:r>
            <a:r>
              <a:rPr sz="1080" b="0" dirty="0" err="1">
                <a:solidFill>
                  <a:srgbClr val="1F2937"/>
                </a:solidFill>
              </a:rPr>
              <a:t>生成下一行动</a:t>
            </a:r>
            <a:endParaRPr sz="1080" b="0" dirty="0">
              <a:solidFill>
                <a:srgbClr val="1F2937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183879" y="128016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79" y="1280160"/>
            <a:ext cx="64008" cy="4389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1444751"/>
            <a:ext cx="2971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203A"/>
                </a:solidFill>
              </a:rPr>
              <a:t>外部数据源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901952"/>
            <a:ext cx="2971800" cy="3639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 dirty="0" err="1">
                <a:solidFill>
                  <a:srgbClr val="1F2937"/>
                </a:solidFill>
              </a:rPr>
              <a:t>航班动态</a:t>
            </a:r>
            <a:r>
              <a:rPr sz="1080" b="0" dirty="0">
                <a:solidFill>
                  <a:srgbClr val="1F2937"/>
                </a:solidFill>
              </a:rPr>
              <a:t>
</a:t>
            </a:r>
            <a:r>
              <a:rPr sz="1080" b="0" dirty="0" err="1">
                <a:solidFill>
                  <a:srgbClr val="1F2937"/>
                </a:solidFill>
              </a:rPr>
              <a:t>机场服务状态</a:t>
            </a:r>
            <a:r>
              <a:rPr sz="1080" b="0" dirty="0">
                <a:solidFill>
                  <a:srgbClr val="1F2937"/>
                </a:solidFill>
              </a:rPr>
              <a:t>
</a:t>
            </a:r>
            <a:r>
              <a:rPr sz="1080" b="0" dirty="0" err="1">
                <a:solidFill>
                  <a:srgbClr val="1F2937"/>
                </a:solidFill>
              </a:rPr>
              <a:t>机场地图与路径</a:t>
            </a:r>
            <a:r>
              <a:rPr sz="1080" b="0" dirty="0">
                <a:solidFill>
                  <a:srgbClr val="1F2937"/>
                </a:solidFill>
              </a:rPr>
              <a:t>
</a:t>
            </a:r>
            <a:r>
              <a:rPr sz="1080" b="0" dirty="0" err="1">
                <a:solidFill>
                  <a:srgbClr val="1F2937"/>
                </a:solidFill>
              </a:rPr>
              <a:t>旅客定位与时间</a:t>
            </a:r>
            <a:r>
              <a:rPr sz="1080" b="0" dirty="0">
                <a:solidFill>
                  <a:srgbClr val="1F2937"/>
                </a:solidFill>
              </a:rPr>
              <a:t>
</a:t>
            </a:r>
            <a:r>
              <a:rPr sz="1080" b="0" dirty="0" err="1">
                <a:solidFill>
                  <a:srgbClr val="1F2937"/>
                </a:solidFill>
              </a:rPr>
              <a:t>城市交通、消息推送</a:t>
            </a:r>
            <a:r>
              <a:rPr sz="1080" b="0" dirty="0">
                <a:solidFill>
                  <a:srgbClr val="1F2937"/>
                </a:solidFill>
              </a:rPr>
              <a:t>
</a:t>
            </a:r>
            <a:r>
              <a:rPr sz="1080" b="0" dirty="0" err="1">
                <a:solidFill>
                  <a:srgbClr val="1F2937"/>
                </a:solidFill>
              </a:rPr>
              <a:t>统一接入并记录来源、时间戳</a:t>
            </a:r>
            <a:r>
              <a:rPr sz="1080" b="0" dirty="0">
                <a:solidFill>
                  <a:srgbClr val="1F2937"/>
                </a:solidFill>
              </a:rPr>
              <a:t>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743200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743200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97880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0F203A"/>
                </a:solidFill>
              </a:rPr>
              <a:t>旅客输入 → 客户端获取位置 → Agent 融合状态 → 风险判断/重规划 → GUI 返回行动建议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</a:rPr>
              <a:t>航旅智行 · 软件工程课程设计 |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F203A"/>
                </a:solidFill>
              </a:rPr>
              <a:t>软件系统功能描述：五项核心功能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38328"/>
            <a:ext cx="868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32688"/>
            <a:ext cx="109728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10927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234440"/>
            <a:ext cx="594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216152"/>
            <a:ext cx="2240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F203A"/>
                </a:solidFill>
              </a:rPr>
              <a:t>多航班旅程建模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197864"/>
            <a:ext cx="7360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40" b="0" dirty="0" err="1">
                <a:solidFill>
                  <a:srgbClr val="1F2937"/>
                </a:solidFill>
              </a:rPr>
              <a:t>建立完整旅程，识别出发</a:t>
            </a:r>
            <a:r>
              <a:rPr sz="1040" b="0" dirty="0">
                <a:solidFill>
                  <a:srgbClr val="1F2937"/>
                </a:solidFill>
              </a:rPr>
              <a:t>/</a:t>
            </a:r>
            <a:r>
              <a:rPr sz="1040" b="0" dirty="0" err="1">
                <a:solidFill>
                  <a:srgbClr val="1F2937"/>
                </a:solidFill>
              </a:rPr>
              <a:t>到达</a:t>
            </a:r>
            <a:r>
              <a:rPr sz="1040" b="0" dirty="0">
                <a:solidFill>
                  <a:srgbClr val="1F2937"/>
                </a:solidFill>
              </a:rPr>
              <a:t>/</a:t>
            </a:r>
            <a:r>
              <a:rPr sz="1040" b="0" dirty="0" err="1">
                <a:solidFill>
                  <a:srgbClr val="1F2937"/>
                </a:solidFill>
              </a:rPr>
              <a:t>中转机场、时间、登机口等关键节点</a:t>
            </a:r>
            <a:r>
              <a:rPr sz="1040" b="0" dirty="0">
                <a:solidFill>
                  <a:srgbClr val="1F2937"/>
                </a:solidFill>
              </a:rPr>
              <a:t>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30552"/>
            <a:ext cx="10927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221992"/>
            <a:ext cx="594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203704"/>
            <a:ext cx="2240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F203A"/>
                </a:solidFill>
              </a:rPr>
              <a:t>三态信息融合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191278"/>
            <a:ext cx="7360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40" b="0" dirty="0" err="1">
                <a:solidFill>
                  <a:srgbClr val="1F2937"/>
                </a:solidFill>
              </a:rPr>
              <a:t>结合航班、机场、旅客位置和当前时间，判断旅客所处阶段</a:t>
            </a:r>
            <a:r>
              <a:rPr sz="1040" b="0" dirty="0">
                <a:solidFill>
                  <a:srgbClr val="1F2937"/>
                </a:solidFill>
              </a:rPr>
              <a:t>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18104"/>
            <a:ext cx="10927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209544"/>
            <a:ext cx="594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191256"/>
            <a:ext cx="2240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F203A"/>
                </a:solidFill>
              </a:rPr>
              <a:t>动态保障方案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172968"/>
            <a:ext cx="7360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40" b="0" dirty="0" err="1">
                <a:solidFill>
                  <a:srgbClr val="1F2937"/>
                </a:solidFill>
              </a:rPr>
              <a:t>计算延误</a:t>
            </a:r>
            <a:r>
              <a:rPr sz="1040" b="0" dirty="0">
                <a:solidFill>
                  <a:srgbClr val="1F2937"/>
                </a:solidFill>
              </a:rPr>
              <a:t>/</a:t>
            </a:r>
            <a:r>
              <a:rPr sz="1040" b="0" dirty="0" err="1">
                <a:solidFill>
                  <a:srgbClr val="1F2937"/>
                </a:solidFill>
              </a:rPr>
              <a:t>错过航班风险；状态变化时重新规划并生成下一行动</a:t>
            </a:r>
            <a:r>
              <a:rPr sz="1040" b="0" dirty="0">
                <a:solidFill>
                  <a:srgbClr val="1F2937"/>
                </a:solidFill>
              </a:rPr>
              <a:t>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105656"/>
            <a:ext cx="10927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197096"/>
            <a:ext cx="594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178808"/>
            <a:ext cx="2240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F203A"/>
                </a:solidFill>
              </a:rPr>
              <a:t>GUI行动引导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160520"/>
            <a:ext cx="7360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40" b="0">
                <a:solidFill>
                  <a:srgbClr val="1F2937"/>
                </a:solidFill>
              </a:rPr>
              <a:t>地图路线、时间轴、剩余时间、登机口、行动卡片统一展示。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93208"/>
            <a:ext cx="10927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184648"/>
            <a:ext cx="594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166360"/>
            <a:ext cx="2240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F203A"/>
                </a:solidFill>
              </a:rPr>
              <a:t>解释与异常回退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5148072"/>
            <a:ext cx="7360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40" b="0">
                <a:solidFill>
                  <a:srgbClr val="1F2937"/>
                </a:solidFill>
              </a:rPr>
              <a:t>显示生成时间、数据更新时间、依据和风险等级；异常时降级处理。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</a:rPr>
              <a:t>航旅智行 · 软件工程课程设计 |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F203A"/>
                </a:solidFill>
              </a:rPr>
              <a:t>核心业务流程：Agent 如何持续陪伴旅客？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38328"/>
            <a:ext cx="868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32688"/>
            <a:ext cx="109728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1417320"/>
            <a:ext cx="685800" cy="6858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286000"/>
            <a:ext cx="16916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F203A"/>
                </a:solidFill>
              </a:rPr>
              <a:t>输入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69748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航班/行程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47672" y="1554480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2788920" y="1417320"/>
            <a:ext cx="685800" cy="6858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88920" y="141732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286000"/>
            <a:ext cx="16916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F203A"/>
                </a:solidFill>
              </a:rPr>
              <a:t>定位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69748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位置/时间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3632" y="1554480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4754879" y="1417320"/>
            <a:ext cx="685800" cy="6858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79" y="141732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59" y="2286000"/>
            <a:ext cx="16916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F203A"/>
                </a:solidFill>
              </a:rPr>
              <a:t>感知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59" y="269748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航班+机场+旅客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9592" y="1554480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6720839" y="1417320"/>
            <a:ext cx="685800" cy="6858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20839" y="141732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19" y="2286000"/>
            <a:ext cx="16916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F203A"/>
                </a:solidFill>
              </a:rPr>
              <a:t>判断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19" y="269748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阶段+风险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5551" y="1554480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1417320"/>
            <a:ext cx="685800" cy="6858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0" y="141732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2286000"/>
            <a:ext cx="16916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F203A"/>
                </a:solidFill>
              </a:rPr>
              <a:t>规划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269748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候选行动+约束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1511" y="1554480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1" name="Oval 30"/>
          <p:cNvSpPr/>
          <p:nvPr/>
        </p:nvSpPr>
        <p:spPr>
          <a:xfrm>
            <a:off x="10652760" y="1417320"/>
            <a:ext cx="685800" cy="6858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652760" y="141732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2286000"/>
            <a:ext cx="16916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F203A"/>
                </a:solidFill>
              </a:rPr>
              <a:t>展示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269748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地图/时间轴/行动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379476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14400" y="3794760"/>
            <a:ext cx="64008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43000" y="3959352"/>
            <a:ext cx="2743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203A"/>
                </a:solidFill>
              </a:rPr>
              <a:t>风险判断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4416552"/>
            <a:ext cx="274320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</a:rPr>
              <a:t>是否还能按时完成下一个关键节点？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26280" y="379476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526280" y="3794760"/>
            <a:ext cx="64008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54880" y="3959352"/>
            <a:ext cx="2743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203A"/>
                </a:solidFill>
              </a:rPr>
              <a:t>动态重规划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4416552"/>
            <a:ext cx="274320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</a:rPr>
              <a:t>状态一变化，重新计算，而不是继续执行旧方案。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38160" y="379476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138160" y="3794760"/>
            <a:ext cx="64008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66760" y="3959352"/>
            <a:ext cx="2743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203A"/>
                </a:solidFill>
              </a:rPr>
              <a:t>人机协同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4416552"/>
            <a:ext cx="274320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</a:rPr>
              <a:t>高影响动作不自动执行，进入人工服务或旅客确认。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</a:rPr>
              <a:t>航旅智行 · 软件工程课程设计 |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 dirty="0" err="1">
                <a:solidFill>
                  <a:srgbClr val="0F203A"/>
                </a:solidFill>
              </a:rPr>
              <a:t>可行性：先做可靠的</a:t>
            </a:r>
            <a:r>
              <a:rPr sz="2500" b="1" dirty="0">
                <a:solidFill>
                  <a:srgbClr val="0F203A"/>
                </a:solidFill>
              </a:rPr>
              <a:t> Agent </a:t>
            </a:r>
            <a:r>
              <a:rPr sz="2500" b="1" dirty="0" err="1">
                <a:solidFill>
                  <a:srgbClr val="0F203A"/>
                </a:solidFill>
              </a:rPr>
              <a:t>闭环，不追求“大模型炫技</a:t>
            </a:r>
            <a:r>
              <a:rPr sz="2500" b="1" dirty="0">
                <a:solidFill>
                  <a:srgbClr val="0F203A"/>
                </a:solidFill>
              </a:rPr>
              <a:t>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38328"/>
            <a:ext cx="868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32688"/>
            <a:ext cx="109728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64008" cy="4480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99032"/>
            <a:ext cx="3017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203A"/>
                </a:solidFill>
              </a:rPr>
              <a:t>技术可行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3017520" cy="3730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 dirty="0" err="1">
                <a:solidFill>
                  <a:srgbClr val="1F2937"/>
                </a:solidFill>
              </a:rPr>
              <a:t>核心逻辑可由“结构化状态</a:t>
            </a:r>
            <a:r>
              <a:rPr sz="1080" b="0" dirty="0">
                <a:solidFill>
                  <a:srgbClr val="1F2937"/>
                </a:solidFill>
              </a:rPr>
              <a:t> + </a:t>
            </a:r>
            <a:r>
              <a:rPr sz="1080" b="0" dirty="0" err="1">
                <a:solidFill>
                  <a:srgbClr val="1F2937"/>
                </a:solidFill>
              </a:rPr>
              <a:t>时间计算</a:t>
            </a:r>
            <a:r>
              <a:rPr sz="1080" b="0" dirty="0">
                <a:solidFill>
                  <a:srgbClr val="1F2937"/>
                </a:solidFill>
              </a:rPr>
              <a:t> + </a:t>
            </a:r>
            <a:r>
              <a:rPr sz="1080" b="0" dirty="0" err="1">
                <a:solidFill>
                  <a:srgbClr val="1F2937"/>
                </a:solidFill>
              </a:rPr>
              <a:t>规则约束</a:t>
            </a:r>
            <a:r>
              <a:rPr sz="1080" b="0" dirty="0">
                <a:solidFill>
                  <a:srgbClr val="1F2937"/>
                </a:solidFill>
              </a:rPr>
              <a:t> + </a:t>
            </a:r>
            <a:r>
              <a:rPr sz="1080" b="0" dirty="0" err="1">
                <a:solidFill>
                  <a:srgbClr val="1F2937"/>
                </a:solidFill>
              </a:rPr>
              <a:t>路径估算”实现</a:t>
            </a:r>
            <a:r>
              <a:rPr sz="1080" b="0" dirty="0">
                <a:solidFill>
                  <a:srgbClr val="1F2937"/>
                </a:solidFill>
              </a:rPr>
              <a:t>。
Agent </a:t>
            </a:r>
            <a:r>
              <a:rPr sz="1080" b="0" dirty="0" err="1">
                <a:solidFill>
                  <a:srgbClr val="1F2937"/>
                </a:solidFill>
              </a:rPr>
              <a:t>负责状态理解、任务编排与解释，不必把所有判断交给大模型</a:t>
            </a:r>
            <a:r>
              <a:rPr sz="1080" b="0" dirty="0">
                <a:solidFill>
                  <a:srgbClr val="1F2937"/>
                </a:solidFill>
              </a:rPr>
              <a:t>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3444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234440"/>
            <a:ext cx="64008" cy="4480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399032"/>
            <a:ext cx="3017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203A"/>
                </a:solidFill>
              </a:rPr>
              <a:t>数据可行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093744"/>
            <a:ext cx="3017520" cy="1255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 dirty="0" err="1">
                <a:solidFill>
                  <a:srgbClr val="1F2937"/>
                </a:solidFill>
              </a:rPr>
              <a:t>航班：开放接口可用时接入；课程阶段可用</a:t>
            </a:r>
            <a:r>
              <a:rPr sz="1080" b="0" dirty="0">
                <a:solidFill>
                  <a:srgbClr val="1F2937"/>
                </a:solidFill>
              </a:rPr>
              <a:t> JSON / </a:t>
            </a:r>
            <a:r>
              <a:rPr sz="1080" b="0" dirty="0" err="1">
                <a:solidFill>
                  <a:srgbClr val="1F2937"/>
                </a:solidFill>
              </a:rPr>
              <a:t>模拟事件</a:t>
            </a:r>
            <a:r>
              <a:rPr sz="1080" b="0" dirty="0">
                <a:solidFill>
                  <a:srgbClr val="1F2937"/>
                </a:solidFill>
              </a:rPr>
              <a:t>。
</a:t>
            </a:r>
            <a:r>
              <a:rPr sz="1080" b="0" dirty="0" err="1">
                <a:solidFill>
                  <a:srgbClr val="1F2937"/>
                </a:solidFill>
              </a:rPr>
              <a:t>机场：公开地图资料整理静态节点与路线</a:t>
            </a:r>
            <a:r>
              <a:rPr lang="zh-CN" altLang="en-US" sz="1080" b="1" dirty="0">
                <a:solidFill>
                  <a:srgbClr val="1F2937"/>
                </a:solidFill>
                <a:ea typeface="等线" panose="02010600030101010101" pitchFamily="2" charset="-122"/>
              </a:rPr>
              <a:t>及实时人流数据</a:t>
            </a:r>
            <a:r>
              <a:rPr sz="1080" b="1" dirty="0">
                <a:solidFill>
                  <a:srgbClr val="1F2937"/>
                </a:solidFill>
                <a:ea typeface="等线" panose="02010600030101010101" pitchFamily="2" charset="-122"/>
              </a:rPr>
              <a:t>。</a:t>
            </a:r>
            <a:r>
              <a:rPr sz="1080" b="0" dirty="0">
                <a:solidFill>
                  <a:srgbClr val="1F2937"/>
                </a:solidFill>
              </a:rPr>
              <a:t>
</a:t>
            </a:r>
            <a:r>
              <a:rPr sz="1080" b="0" dirty="0" err="1">
                <a:solidFill>
                  <a:srgbClr val="1F2937"/>
                </a:solidFill>
              </a:rPr>
              <a:t>定位：客户端授权后获取</a:t>
            </a:r>
            <a:r>
              <a:rPr sz="1080" b="0" dirty="0">
                <a:solidFill>
                  <a:srgbClr val="1F2937"/>
                </a:solidFill>
              </a:rPr>
              <a:t>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3444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234440"/>
            <a:ext cx="64008" cy="4480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399032"/>
            <a:ext cx="3017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203A"/>
                </a:solidFill>
              </a:rPr>
              <a:t>工程可行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856232"/>
            <a:ext cx="3017520" cy="3730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 dirty="0" err="1">
                <a:solidFill>
                  <a:srgbClr val="1F2937"/>
                </a:solidFill>
              </a:rPr>
              <a:t>先完成单机场、单航班闭环：输入</a:t>
            </a:r>
            <a:r>
              <a:rPr sz="1080" b="0" dirty="0">
                <a:solidFill>
                  <a:srgbClr val="1F2937"/>
                </a:solidFill>
              </a:rPr>
              <a:t> → </a:t>
            </a:r>
            <a:r>
              <a:rPr sz="1080" b="0" dirty="0" err="1">
                <a:solidFill>
                  <a:srgbClr val="1F2937"/>
                </a:solidFill>
              </a:rPr>
              <a:t>定位</a:t>
            </a:r>
            <a:r>
              <a:rPr sz="1080" b="0" dirty="0">
                <a:solidFill>
                  <a:srgbClr val="1F2937"/>
                </a:solidFill>
              </a:rPr>
              <a:t> → </a:t>
            </a:r>
            <a:r>
              <a:rPr sz="1080" b="0" dirty="0" err="1">
                <a:solidFill>
                  <a:srgbClr val="1F2937"/>
                </a:solidFill>
              </a:rPr>
              <a:t>信息融合</a:t>
            </a:r>
            <a:r>
              <a:rPr sz="1080" b="0" dirty="0">
                <a:solidFill>
                  <a:srgbClr val="1F2937"/>
                </a:solidFill>
              </a:rPr>
              <a:t> → </a:t>
            </a:r>
            <a:r>
              <a:rPr sz="1080" b="0" dirty="0" err="1">
                <a:solidFill>
                  <a:srgbClr val="1F2937"/>
                </a:solidFill>
              </a:rPr>
              <a:t>风险判断</a:t>
            </a:r>
            <a:r>
              <a:rPr sz="1080" b="0" dirty="0">
                <a:solidFill>
                  <a:srgbClr val="1F2937"/>
                </a:solidFill>
              </a:rPr>
              <a:t> → GUI。
MVP </a:t>
            </a:r>
            <a:r>
              <a:rPr sz="1080" b="0" dirty="0" err="1">
                <a:solidFill>
                  <a:srgbClr val="1F2937"/>
                </a:solidFill>
              </a:rPr>
              <a:t>后再扩展多航班、多机场、真实接口</a:t>
            </a:r>
            <a:r>
              <a:rPr sz="1080" b="0" dirty="0">
                <a:solidFill>
                  <a:srgbClr val="1F2937"/>
                </a:solidFill>
              </a:rPr>
              <a:t>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</a:rPr>
              <a:t>航旅智行 · 软件工程课程设计 |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 dirty="0" err="1">
                <a:solidFill>
                  <a:srgbClr val="0F203A"/>
                </a:solidFill>
              </a:rPr>
              <a:t>潜在风险：关键是“可信”而不是“看起来聪明</a:t>
            </a:r>
            <a:r>
              <a:rPr sz="2500" b="1" dirty="0">
                <a:solidFill>
                  <a:srgbClr val="0F203A"/>
                </a:solidFill>
              </a:rPr>
              <a:t>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38328"/>
            <a:ext cx="868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32688"/>
            <a:ext cx="109728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516636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143000"/>
            <a:ext cx="64008" cy="12618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07592"/>
            <a:ext cx="4754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203A"/>
                </a:solidFill>
              </a:rPr>
              <a:t>数据接口不可用/延迟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64792"/>
            <a:ext cx="4754880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</a:rPr>
              <a:t>统一适配接口 + 模拟数据 + 离线回放；明确更新时间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143000"/>
            <a:ext cx="516636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143000"/>
            <a:ext cx="64008" cy="12618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307592"/>
            <a:ext cx="4754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203A"/>
                </a:solidFill>
              </a:rPr>
              <a:t>多源数据冲突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64792"/>
            <a:ext cx="4754880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</a:rPr>
              <a:t>记录来源、时间戳、有效期；无法确认则显示待确认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715768"/>
            <a:ext cx="516636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2715768"/>
            <a:ext cx="64008" cy="12618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2880360"/>
            <a:ext cx="4754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203A"/>
                </a:solidFill>
              </a:rPr>
              <a:t>定位不准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37560"/>
            <a:ext cx="4754880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</a:rPr>
              <a:t>支持手动选择机场节点；使用最近一次有效位置降级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715768"/>
            <a:ext cx="516636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2715768"/>
            <a:ext cx="64008" cy="12618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2880360"/>
            <a:ext cx="4754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203A"/>
                </a:solidFill>
              </a:rPr>
              <a:t>Agent建议不准确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337560"/>
            <a:ext cx="4754880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</a:rPr>
              <a:t>登机截止时间、节点顺序等设为硬约束；显示依据与风险等级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288536"/>
            <a:ext cx="516636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4288536"/>
            <a:ext cx="64008" cy="12618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4453127"/>
            <a:ext cx="4754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203A"/>
                </a:solidFill>
              </a:rPr>
              <a:t>网络/云端中断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910327"/>
            <a:ext cx="4754880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</a:rPr>
              <a:t>客户端保留最近状态、路线、建议；恢复后重新同步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288536"/>
            <a:ext cx="516636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72200" y="4288536"/>
            <a:ext cx="64008" cy="12618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4453127"/>
            <a:ext cx="4754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203A"/>
                </a:solidFill>
              </a:rPr>
              <a:t>隐私与范围失控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910327"/>
            <a:ext cx="4754880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</a:rPr>
              <a:t>最小化采集定位；加密传输；MVP不自动改签/支付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</a:rPr>
              <a:t>航旅智行 · 软件工程课程设计 |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项目总结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789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 dirty="0" err="1">
                <a:solidFill>
                  <a:srgbClr val="BFDBFE"/>
                </a:solidFill>
              </a:rPr>
              <a:t>从“告诉旅客发生了什么”升级为“告诉旅客下一步该做什么</a:t>
            </a:r>
            <a:r>
              <a:rPr sz="2100" b="1" dirty="0">
                <a:solidFill>
                  <a:srgbClr val="BFDBFE"/>
                </a:solidFill>
              </a:rPr>
              <a:t>”。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71800"/>
            <a:ext cx="2468880" cy="1508760"/>
          </a:xfrm>
          <a:prstGeom prst="roundRect">
            <a:avLst/>
          </a:prstGeom>
          <a:solidFill>
            <a:srgbClr val="1F3456"/>
          </a:solidFill>
          <a:ln>
            <a:solidFill>
              <a:srgbClr val="476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3154680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业务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593592"/>
            <a:ext cx="213969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BFDBFE"/>
                </a:solidFill>
              </a:rPr>
              <a:t>围绕“旅客—航班”建立全旅程模型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2971800"/>
            <a:ext cx="2468880" cy="1508760"/>
          </a:xfrm>
          <a:prstGeom prst="roundRect">
            <a:avLst/>
          </a:prstGeom>
          <a:solidFill>
            <a:srgbClr val="1F3456"/>
          </a:solidFill>
          <a:ln>
            <a:solidFill>
              <a:srgbClr val="476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599" y="3154680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技术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1" y="3593592"/>
            <a:ext cx="213969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BFDBFE"/>
                </a:solidFill>
              </a:rPr>
              <a:t>Agent融合航班、机场、旅客三态信息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971800"/>
            <a:ext cx="2468880" cy="1508760"/>
          </a:xfrm>
          <a:prstGeom prst="roundRect">
            <a:avLst/>
          </a:prstGeom>
          <a:solidFill>
            <a:srgbClr val="1F3456"/>
          </a:solidFill>
          <a:ln>
            <a:solidFill>
              <a:srgbClr val="476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3154680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核心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1" y="3593592"/>
            <a:ext cx="213969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BFDBFE"/>
                </a:solidFill>
              </a:rPr>
              <a:t>风险判断 + 动态重规划 + GUI行动引导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2971800"/>
            <a:ext cx="2468880" cy="1508760"/>
          </a:xfrm>
          <a:prstGeom prst="roundRect">
            <a:avLst/>
          </a:prstGeom>
          <a:solidFill>
            <a:srgbClr val="1F3456"/>
          </a:solidFill>
          <a:ln>
            <a:solidFill>
              <a:srgbClr val="476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35440" y="3154680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原则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2872" y="3593592"/>
            <a:ext cx="213969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BFDBFE"/>
                </a:solidFill>
              </a:rPr>
              <a:t>可解释、可确认、可回退，不替代专业决策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5780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谢谢老师，欢迎点评！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06440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陈源齐 · 陈志恒 · 曹力文 · 李昊洋 · 吴启训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671</Words>
  <Application>Microsoft Office PowerPoint</Application>
  <PresentationFormat>宽屏</PresentationFormat>
  <Paragraphs>149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Microsoft JhengHei Light</vt:lpstr>
      <vt:lpstr>等线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Yuanqi Chen</cp:lastModifiedBy>
  <cp:revision>5</cp:revision>
  <dcterms:created xsi:type="dcterms:W3CDTF">2013-01-27T09:14:16Z</dcterms:created>
  <dcterms:modified xsi:type="dcterms:W3CDTF">2026-09-03T14:18:10Z</dcterms:modified>
  <cp:category/>
</cp:coreProperties>
</file>